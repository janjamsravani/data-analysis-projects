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0" r:id="rId3"/>
    <p:sldId id="257" r:id="rId4"/>
    <p:sldId id="258" r:id="rId5"/>
    <p:sldId id="259" r:id="rId6"/>
    <p:sldId id="260" r:id="rId7"/>
    <p:sldId id="261" r:id="rId8"/>
    <p:sldId id="263" r:id="rId9"/>
    <p:sldId id="262" r:id="rId10"/>
    <p:sldId id="264" r:id="rId11"/>
    <p:sldId id="265" r:id="rId12"/>
    <p:sldId id="266" r:id="rId13"/>
    <p:sldId id="267" r:id="rId14"/>
    <p:sldId id="268" r:id="rId15"/>
    <p:sldId id="269"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74128-C331-485C-BC46-991E2F9F9B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04F5331-5665-41D0-8126-20F1FD80E8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74828AA-B173-477E-B998-D5A51508E0AC}"/>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5" name="Footer Placeholder 4">
            <a:extLst>
              <a:ext uri="{FF2B5EF4-FFF2-40B4-BE49-F238E27FC236}">
                <a16:creationId xmlns:a16="http://schemas.microsoft.com/office/drawing/2014/main" id="{334181EF-93F8-49AC-8D54-F4D8588171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30F329-08B4-404D-8163-F75C1DF886A9}"/>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3714009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7E2CD-847F-423E-9A41-8250FB5C84E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8EF1D23-E04F-4F1D-8A0A-25B93F92EAF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B640B13-0DC3-4DDB-BE80-523435564225}"/>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5" name="Footer Placeholder 4">
            <a:extLst>
              <a:ext uri="{FF2B5EF4-FFF2-40B4-BE49-F238E27FC236}">
                <a16:creationId xmlns:a16="http://schemas.microsoft.com/office/drawing/2014/main" id="{D4D4FA2D-450B-4AA4-9350-D78EA9E9F5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CC5C5B-4BC3-45A3-8B50-95C27A4E1278}"/>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903687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CEEEE-9B1E-4340-A6F3-2A8ADDFF3B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418DFAD-CD40-4266-A434-31226670138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458AD4-24EC-4D46-81E7-2509917ED476}"/>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5" name="Footer Placeholder 4">
            <a:extLst>
              <a:ext uri="{FF2B5EF4-FFF2-40B4-BE49-F238E27FC236}">
                <a16:creationId xmlns:a16="http://schemas.microsoft.com/office/drawing/2014/main" id="{8F055422-E811-4790-B3B6-74CB266773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3D136B-4E5D-4BC6-B6D8-034D7BF097CE}"/>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1636820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5A7B3-DD77-42A1-81B3-A0A39CCEDB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3C92B1-9C10-4167-9CA4-7C2DE8F012A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7BDD8F7-077A-47E8-B2FD-6B8E98475E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AF9294-0AE5-4EEA-947B-1C8D8F29D0E7}"/>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6" name="Footer Placeholder 5">
            <a:extLst>
              <a:ext uri="{FF2B5EF4-FFF2-40B4-BE49-F238E27FC236}">
                <a16:creationId xmlns:a16="http://schemas.microsoft.com/office/drawing/2014/main" id="{45C09323-EE91-4471-A6E9-E86FBE1054D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C5718D7-E941-4530-9FB6-C61962485745}"/>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626899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8E309-A8AF-42F1-8702-4E28CC8CF97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991E26-1204-422F-8DDA-9AC45382C8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8C63E9C-3065-4050-BFBC-839733BD791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754BF4-3E73-4AA6-80BA-EBC5C178E6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A9D410F-29D4-41D0-B357-18198B2D17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42B0A17-BDBB-4003-B22E-757AF6A123BB}"/>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8" name="Footer Placeholder 7">
            <a:extLst>
              <a:ext uri="{FF2B5EF4-FFF2-40B4-BE49-F238E27FC236}">
                <a16:creationId xmlns:a16="http://schemas.microsoft.com/office/drawing/2014/main" id="{D0CD96A0-A3C3-4599-AAAD-C480181D30B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694AE90-84FA-4C6F-84C4-7FED66BFD1C3}"/>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10876276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047C2-EE8A-40C3-B4BF-01687ABACF7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B15B04-0F18-4E95-BCCE-BA1FB9E46988}"/>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4" name="Footer Placeholder 3">
            <a:extLst>
              <a:ext uri="{FF2B5EF4-FFF2-40B4-BE49-F238E27FC236}">
                <a16:creationId xmlns:a16="http://schemas.microsoft.com/office/drawing/2014/main" id="{40DB4061-9CF0-4898-845E-08B89D17329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229DA3-B774-4A30-A379-F2BD855CA724}"/>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943211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9FF337E-1B0D-4119-9CB9-3107CE183A94}"/>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3" name="Footer Placeholder 2">
            <a:extLst>
              <a:ext uri="{FF2B5EF4-FFF2-40B4-BE49-F238E27FC236}">
                <a16:creationId xmlns:a16="http://schemas.microsoft.com/office/drawing/2014/main" id="{80EFEE23-4BF8-452C-B583-FEE53E4CBA3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6D64CA9-C716-48F1-914C-4F2CAD276EFD}"/>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8056079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DA6AC-7727-4AC2-B5CA-37F573123AB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BE6013-9381-4D1C-A287-0ED9F957EA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A60A27-185E-476B-849D-ABFF3D3898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40527FE-7CB1-4C37-B1B8-F17D8DBCE9CF}"/>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6" name="Footer Placeholder 5">
            <a:extLst>
              <a:ext uri="{FF2B5EF4-FFF2-40B4-BE49-F238E27FC236}">
                <a16:creationId xmlns:a16="http://schemas.microsoft.com/office/drawing/2014/main" id="{D3253AC8-C05D-4F68-9D47-B46E3304D3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C13F4A-AF86-40F9-8CD2-111B8F1B587C}"/>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1354926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028D7-D7AE-4C56-B772-74DF35C269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C74BE2B-A876-449C-9C59-B1BE18D533E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E1D174F-B526-414E-8D09-25FE4844C8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8F55AB-6662-4FE2-82B8-388B64A66D7D}"/>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6" name="Footer Placeholder 5">
            <a:extLst>
              <a:ext uri="{FF2B5EF4-FFF2-40B4-BE49-F238E27FC236}">
                <a16:creationId xmlns:a16="http://schemas.microsoft.com/office/drawing/2014/main" id="{15270B87-ACF1-4118-9D2A-3E83F340D97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6A28205-7414-4DBF-B481-BB5247F11CA1}"/>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508964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FF44C-3D7F-498A-967E-798B1B5C89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BF6D941-4E3D-4E7E-BA75-9937331749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0ADA1E-7D72-4575-A913-5816495F80E2}"/>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5" name="Footer Placeholder 4">
            <a:extLst>
              <a:ext uri="{FF2B5EF4-FFF2-40B4-BE49-F238E27FC236}">
                <a16:creationId xmlns:a16="http://schemas.microsoft.com/office/drawing/2014/main" id="{04A08FA0-F5D8-4393-B996-11AB33619F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82DE43B-4553-48E1-8088-D87EE76A1BFB}"/>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22185519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03B672-21DD-4141-A532-E233611BB7D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1068540-24A3-455B-999B-C80FFEC8F9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17194B-F000-4879-99EE-CEA37C731546}"/>
              </a:ext>
            </a:extLst>
          </p:cNvPr>
          <p:cNvSpPr>
            <a:spLocks noGrp="1"/>
          </p:cNvSpPr>
          <p:nvPr>
            <p:ph type="dt" sz="half" idx="10"/>
          </p:nvPr>
        </p:nvSpPr>
        <p:spPr/>
        <p:txBody>
          <a:bodyPr/>
          <a:lstStyle/>
          <a:p>
            <a:fld id="{0EB7EB9E-228F-497A-B295-8C1A9D053B4F}" type="datetimeFigureOut">
              <a:rPr lang="en-IN" smtClean="0"/>
              <a:t>19-03-2025</a:t>
            </a:fld>
            <a:endParaRPr lang="en-IN"/>
          </a:p>
        </p:txBody>
      </p:sp>
      <p:sp>
        <p:nvSpPr>
          <p:cNvPr id="5" name="Footer Placeholder 4">
            <a:extLst>
              <a:ext uri="{FF2B5EF4-FFF2-40B4-BE49-F238E27FC236}">
                <a16:creationId xmlns:a16="http://schemas.microsoft.com/office/drawing/2014/main" id="{29C95BC7-82D7-46C8-9A6C-0A4669338E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38DC02-6CDA-43E9-A8AF-90FCD2A4BD59}"/>
              </a:ext>
            </a:extLst>
          </p:cNvPr>
          <p:cNvSpPr>
            <a:spLocks noGrp="1"/>
          </p:cNvSpPr>
          <p:nvPr>
            <p:ph type="sldNum" sz="quarter" idx="12"/>
          </p:nvPr>
        </p:nvSpPr>
        <p:spPr/>
        <p:txBody>
          <a:bodyPr/>
          <a:lstStyle/>
          <a:p>
            <a:fld id="{E2D0BB5D-2FF4-4760-9BC7-026DF85B92CB}" type="slidenum">
              <a:rPr lang="en-IN" smtClean="0"/>
              <a:t>‹#›</a:t>
            </a:fld>
            <a:endParaRPr lang="en-IN"/>
          </a:p>
        </p:txBody>
      </p:sp>
    </p:spTree>
    <p:extLst>
      <p:ext uri="{BB962C8B-B14F-4D97-AF65-F5344CB8AC3E}">
        <p14:creationId xmlns:p14="http://schemas.microsoft.com/office/powerpoint/2010/main" val="6320378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FB49817-C152-46FE-906E-8A4387698B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75253CF-4739-464C-82D5-E0A02C5C79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155367-AC2A-4BD5-9915-54FFDD11CB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B7EB9E-228F-497A-B295-8C1A9D053B4F}" type="datetimeFigureOut">
              <a:rPr lang="en-IN" smtClean="0"/>
              <a:t>19-03-2025</a:t>
            </a:fld>
            <a:endParaRPr lang="en-IN"/>
          </a:p>
        </p:txBody>
      </p:sp>
      <p:sp>
        <p:nvSpPr>
          <p:cNvPr id="5" name="Footer Placeholder 4">
            <a:extLst>
              <a:ext uri="{FF2B5EF4-FFF2-40B4-BE49-F238E27FC236}">
                <a16:creationId xmlns:a16="http://schemas.microsoft.com/office/drawing/2014/main" id="{01C3C84C-D7D4-4BF1-8CCD-FC42D0DC7C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71974DE-B76D-47C3-8AE6-E3A8F6CDAF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0BB5D-2FF4-4760-9BC7-026DF85B92CB}" type="slidenum">
              <a:rPr lang="en-IN" smtClean="0"/>
              <a:t>‹#›</a:t>
            </a:fld>
            <a:endParaRPr lang="en-IN"/>
          </a:p>
        </p:txBody>
      </p:sp>
    </p:spTree>
    <p:extLst>
      <p:ext uri="{BB962C8B-B14F-4D97-AF65-F5344CB8AC3E}">
        <p14:creationId xmlns:p14="http://schemas.microsoft.com/office/powerpoint/2010/main" val="7200821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C97F-F5EF-410A-AB27-0DB3ADE6A970}"/>
              </a:ext>
            </a:extLst>
          </p:cNvPr>
          <p:cNvSpPr>
            <a:spLocks noGrp="1"/>
          </p:cNvSpPr>
          <p:nvPr>
            <p:ph type="title"/>
          </p:nvPr>
        </p:nvSpPr>
        <p:spPr>
          <a:xfrm>
            <a:off x="918099" y="3026715"/>
            <a:ext cx="10515600" cy="1325563"/>
          </a:xfrm>
        </p:spPr>
        <p:txBody>
          <a:bodyPr/>
          <a:lstStyle/>
          <a:p>
            <a:pPr algn="just"/>
            <a:r>
              <a:rPr lang="en-US" dirty="0">
                <a:latin typeface="Times New Roman" panose="02020603050405020304" pitchFamily="18" charset="0"/>
                <a:cs typeface="Times New Roman" panose="02020603050405020304" pitchFamily="18" charset="0"/>
              </a:rPr>
              <a:t>State-wise Data of First Census of Water Bodies - Tamil Nadu</a:t>
            </a:r>
            <a:endParaRPr lang="en-IN"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B223C5EF-86E4-4F81-BB6D-13070C9424F4}"/>
              </a:ext>
            </a:extLst>
          </p:cNvPr>
          <p:cNvSpPr txBox="1">
            <a:spLocks/>
          </p:cNvSpPr>
          <p:nvPr/>
        </p:nvSpPr>
        <p:spPr>
          <a:xfrm>
            <a:off x="838200" y="88867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E395CF8-E9C6-448D-B608-179F7C59F2B5}"/>
              </a:ext>
            </a:extLst>
          </p:cNvPr>
          <p:cNvSpPr txBox="1"/>
          <p:nvPr/>
        </p:nvSpPr>
        <p:spPr>
          <a:xfrm>
            <a:off x="1766656" y="136479"/>
            <a:ext cx="7721353" cy="2366995"/>
          </a:xfrm>
          <a:prstGeom prst="rect">
            <a:avLst/>
          </a:prstGeom>
          <a:noFill/>
        </p:spPr>
        <p:txBody>
          <a:bodyPr wrap="square">
            <a:spAutoFit/>
          </a:bodyPr>
          <a:lstStyle/>
          <a:p>
            <a:pPr algn="ctr">
              <a:lnSpc>
                <a:spcPct val="200000"/>
              </a:lnSpc>
            </a:pPr>
            <a:r>
              <a:rPr lang="en-US" sz="4000" b="1" dirty="0">
                <a:solidFill>
                  <a:srgbClr val="FF0000"/>
                </a:solidFill>
                <a:latin typeface="Times New Roman" panose="02020603050405020304" pitchFamily="18" charset="0"/>
                <a:cs typeface="Times New Roman" panose="02020603050405020304" pitchFamily="18" charset="0"/>
              </a:rPr>
              <a:t>DATA ANALYSIS ON GOVERNMENT DATA SET</a:t>
            </a:r>
          </a:p>
        </p:txBody>
      </p:sp>
      <p:sp>
        <p:nvSpPr>
          <p:cNvPr id="7" name="TextBox 6">
            <a:extLst>
              <a:ext uri="{FF2B5EF4-FFF2-40B4-BE49-F238E27FC236}">
                <a16:creationId xmlns:a16="http://schemas.microsoft.com/office/drawing/2014/main" id="{2012E6FF-0FE1-4916-B76B-B600775F3684}"/>
              </a:ext>
            </a:extLst>
          </p:cNvPr>
          <p:cNvSpPr txBox="1"/>
          <p:nvPr/>
        </p:nvSpPr>
        <p:spPr>
          <a:xfrm>
            <a:off x="8478803" y="4530199"/>
            <a:ext cx="3195961" cy="1669944"/>
          </a:xfrm>
          <a:prstGeom prst="rect">
            <a:avLst/>
          </a:prstGeom>
          <a:noFill/>
        </p:spPr>
        <p:txBody>
          <a:bodyPr wrap="square">
            <a:spAutoFit/>
          </a:bodyPr>
          <a:lstStyle/>
          <a:p>
            <a:pPr algn="just">
              <a:lnSpc>
                <a:spcPct val="200000"/>
              </a:lnSpc>
            </a:pPr>
            <a:r>
              <a:rPr lang="en-US" b="1" dirty="0">
                <a:latin typeface="Times New Roman" panose="02020603050405020304" pitchFamily="18" charset="0"/>
                <a:cs typeface="Times New Roman" panose="02020603050405020304" pitchFamily="18" charset="0"/>
              </a:rPr>
              <a:t>Name </a:t>
            </a:r>
            <a:r>
              <a:rPr lang="en-US" sz="1800" b="1" dirty="0">
                <a:latin typeface="Times New Roman" panose="02020603050405020304" pitchFamily="18" charset="0"/>
                <a:cs typeface="Times New Roman" panose="02020603050405020304" pitchFamily="18" charset="0"/>
              </a:rPr>
              <a:t>: </a:t>
            </a:r>
            <a:r>
              <a:rPr lang="en-US" sz="1800" b="1" dirty="0" err="1">
                <a:latin typeface="Times New Roman" panose="02020603050405020304" pitchFamily="18" charset="0"/>
                <a:cs typeface="Times New Roman" panose="02020603050405020304" pitchFamily="18" charset="0"/>
              </a:rPr>
              <a:t>J</a:t>
            </a:r>
            <a:r>
              <a:rPr lang="en-US" b="1" dirty="0" err="1">
                <a:latin typeface="Times New Roman" panose="02020603050405020304" pitchFamily="18" charset="0"/>
                <a:cs typeface="Times New Roman" panose="02020603050405020304" pitchFamily="18" charset="0"/>
              </a:rPr>
              <a:t>.Sravani</a:t>
            </a:r>
            <a:endParaRPr lang="en-US" sz="1800" b="1" dirty="0">
              <a:latin typeface="Times New Roman" panose="02020603050405020304" pitchFamily="18" charset="0"/>
              <a:cs typeface="Times New Roman" panose="02020603050405020304" pitchFamily="18" charset="0"/>
            </a:endParaRPr>
          </a:p>
          <a:p>
            <a:pPr algn="just">
              <a:lnSpc>
                <a:spcPct val="200000"/>
              </a:lnSpc>
            </a:pPr>
            <a:r>
              <a:rPr lang="en-US" b="1" dirty="0" err="1">
                <a:latin typeface="Times New Roman" panose="02020603050405020304" pitchFamily="18" charset="0"/>
                <a:cs typeface="Times New Roman" panose="02020603050405020304" pitchFamily="18" charset="0"/>
              </a:rPr>
              <a:t>Rollno</a:t>
            </a:r>
            <a:r>
              <a:rPr lang="en-US" b="1" dirty="0">
                <a:latin typeface="Times New Roman" panose="02020603050405020304" pitchFamily="18" charset="0"/>
                <a:cs typeface="Times New Roman" panose="02020603050405020304" pitchFamily="18" charset="0"/>
              </a:rPr>
              <a:t> : 2211CS010235</a:t>
            </a:r>
          </a:p>
          <a:p>
            <a:pPr algn="just">
              <a:lnSpc>
                <a:spcPct val="200000"/>
              </a:lnSpc>
            </a:pPr>
            <a:r>
              <a:rPr lang="en-US" b="1" dirty="0">
                <a:latin typeface="Times New Roman" panose="02020603050405020304" pitchFamily="18" charset="0"/>
                <a:cs typeface="Times New Roman" panose="02020603050405020304" pitchFamily="18" charset="0"/>
              </a:rPr>
              <a:t>Group : 4</a:t>
            </a:r>
          </a:p>
        </p:txBody>
      </p:sp>
    </p:spTree>
    <p:extLst>
      <p:ext uri="{BB962C8B-B14F-4D97-AF65-F5344CB8AC3E}">
        <p14:creationId xmlns:p14="http://schemas.microsoft.com/office/powerpoint/2010/main" val="40436860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953D8-1275-416D-8C06-A06A8C011692}"/>
              </a:ext>
            </a:extLst>
          </p:cNvPr>
          <p:cNvSpPr>
            <a:spLocks noGrp="1"/>
          </p:cNvSpPr>
          <p:nvPr>
            <p:ph type="ctrTitle"/>
          </p:nvPr>
        </p:nvSpPr>
        <p:spPr>
          <a:xfrm>
            <a:off x="547457" y="935932"/>
            <a:ext cx="9144000" cy="688682"/>
          </a:xfrm>
        </p:spPr>
        <p:txBody>
          <a:bodyPr>
            <a:normAutofit fontScale="90000"/>
          </a:bodyPr>
          <a:lstStyle/>
          <a:p>
            <a:pPr algn="l"/>
            <a:r>
              <a:rPr lang="en-US" dirty="0"/>
              <a:t>Content:</a:t>
            </a:r>
            <a:endParaRPr lang="en-IN" dirty="0"/>
          </a:p>
        </p:txBody>
      </p:sp>
      <p:sp>
        <p:nvSpPr>
          <p:cNvPr id="3" name="Subtitle 2">
            <a:extLst>
              <a:ext uri="{FF2B5EF4-FFF2-40B4-BE49-F238E27FC236}">
                <a16:creationId xmlns:a16="http://schemas.microsoft.com/office/drawing/2014/main" id="{BF64285A-A862-4F3A-8AE4-B6F7D1AE3EB8}"/>
              </a:ext>
            </a:extLst>
          </p:cNvPr>
          <p:cNvSpPr>
            <a:spLocks noGrp="1"/>
          </p:cNvSpPr>
          <p:nvPr>
            <p:ph type="subTitle" idx="1"/>
          </p:nvPr>
        </p:nvSpPr>
        <p:spPr>
          <a:xfrm>
            <a:off x="627355" y="2066200"/>
            <a:ext cx="9144000" cy="3224891"/>
          </a:xfrm>
        </p:spPr>
        <p:txBody>
          <a:bodyPr>
            <a:normAutofit fontScale="85000" lnSpcReduction="20000"/>
          </a:bodyPr>
          <a:lstStyle/>
          <a:p>
            <a:pPr marL="342900" indent="-342900" algn="l">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About the WBC_TN.csv Dataset</a:t>
            </a:r>
          </a:p>
          <a:p>
            <a:pPr marL="342900" indent="-342900" algn="l">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Steps in the Process of Research</a:t>
            </a:r>
          </a:p>
          <a:p>
            <a:pPr marL="342900" indent="-342900" algn="l">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Analyzing and Interpreting Data</a:t>
            </a:r>
          </a:p>
          <a:p>
            <a:pPr marL="342900" indent="-342900" algn="l">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Steps Involved in Data Analysis</a:t>
            </a:r>
          </a:p>
          <a:p>
            <a:pPr marL="342900" indent="-342900" algn="l">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Problems in the WBC_TN Dataset</a:t>
            </a:r>
          </a:p>
          <a:p>
            <a:pPr marL="342900" indent="-342900" algn="l">
              <a:lnSpc>
                <a:spcPct val="150000"/>
              </a:lnSpc>
              <a:buFont typeface="Wingdings" panose="05000000000000000000" pitchFamily="2" charset="2"/>
              <a:buChar char="q"/>
            </a:pPr>
            <a:r>
              <a:rPr lang="en-US" b="1" dirty="0">
                <a:latin typeface="Times New Roman" panose="02020603050405020304" pitchFamily="18" charset="0"/>
                <a:cs typeface="Times New Roman" panose="02020603050405020304" pitchFamily="18" charset="0"/>
              </a:rPr>
              <a:t>Data Visualization</a:t>
            </a:r>
          </a:p>
          <a:p>
            <a:pPr marL="342900" indent="-342900" algn="l">
              <a:lnSpc>
                <a:spcPct val="150000"/>
              </a:lnSpc>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pitchFamily="2" charset="2"/>
              <a:buChar char="q"/>
            </a:pPr>
            <a:endParaRPr lang="en-US" b="1"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q"/>
            </a:pPr>
            <a:endParaRPr lang="en-IN" dirty="0"/>
          </a:p>
        </p:txBody>
      </p:sp>
    </p:spTree>
    <p:extLst>
      <p:ext uri="{BB962C8B-B14F-4D97-AF65-F5344CB8AC3E}">
        <p14:creationId xmlns:p14="http://schemas.microsoft.com/office/powerpoint/2010/main" val="2095161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A6D8CC7-7EA6-4611-8B9B-3A3677DACE84}"/>
              </a:ext>
            </a:extLst>
          </p:cNvPr>
          <p:cNvSpPr txBox="1"/>
          <p:nvPr/>
        </p:nvSpPr>
        <p:spPr>
          <a:xfrm>
            <a:off x="310718" y="-71782"/>
            <a:ext cx="10804125" cy="6717480"/>
          </a:xfrm>
          <a:prstGeom prst="rect">
            <a:avLst/>
          </a:prstGeom>
          <a:noFill/>
        </p:spPr>
        <p:txBody>
          <a:bodyPr wrap="square">
            <a:spAutoFit/>
          </a:bodyPr>
          <a:lstStyle/>
          <a:p>
            <a:pPr algn="just">
              <a:lnSpc>
                <a:spcPct val="200000"/>
              </a:lnSpc>
            </a:pPr>
            <a:r>
              <a:rPr lang="en-US" sz="2000" b="1" dirty="0">
                <a:solidFill>
                  <a:srgbClr val="FF0000"/>
                </a:solidFill>
                <a:latin typeface="Times New Roman" panose="02020603050405020304" pitchFamily="18" charset="0"/>
                <a:cs typeface="Times New Roman" panose="02020603050405020304" pitchFamily="18" charset="0"/>
              </a:rPr>
              <a:t>DATA ANALYSIS REPORT:</a:t>
            </a:r>
            <a:endParaRPr lang="en-US" b="1" dirty="0">
              <a:solidFill>
                <a:srgbClr val="FF0000"/>
              </a:solidFill>
              <a:latin typeface="Times New Roman" panose="02020603050405020304" pitchFamily="18" charset="0"/>
              <a:cs typeface="Times New Roman" panose="02020603050405020304" pitchFamily="18" charset="0"/>
            </a:endParaRPr>
          </a:p>
          <a:p>
            <a:pPr algn="just">
              <a:lnSpc>
                <a:spcPct val="200000"/>
              </a:lnSpc>
            </a:pPr>
            <a:r>
              <a:rPr lang="en-US" b="1" dirty="0">
                <a:solidFill>
                  <a:schemeClr val="accent2">
                    <a:lumMod val="50000"/>
                  </a:schemeClr>
                </a:solidFill>
                <a:latin typeface="Times New Roman" panose="02020603050405020304" pitchFamily="18" charset="0"/>
                <a:cs typeface="Times New Roman" panose="02020603050405020304" pitchFamily="18" charset="0"/>
              </a:rPr>
              <a:t>1. About the WBC_TN.csv Dataset:</a:t>
            </a:r>
          </a:p>
          <a:p>
            <a:pPr algn="just">
              <a:lnSpc>
                <a:spcPct val="200000"/>
              </a:lnSpc>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WBC_TN.csv</a:t>
            </a:r>
            <a:r>
              <a:rPr lang="en-US" dirty="0">
                <a:latin typeface="Times New Roman" panose="02020603050405020304" pitchFamily="18" charset="0"/>
                <a:cs typeface="Times New Roman" panose="02020603050405020304" pitchFamily="18" charset="0"/>
              </a:rPr>
              <a:t> dataset contains information related to water bodies in Tamil Nadu, India. It includes </a:t>
            </a:r>
            <a:r>
              <a:rPr lang="en-US" b="1" dirty="0">
                <a:latin typeface="Times New Roman" panose="02020603050405020304" pitchFamily="18" charset="0"/>
                <a:cs typeface="Times New Roman" panose="02020603050405020304" pitchFamily="18" charset="0"/>
              </a:rPr>
              <a:t>106,957</a:t>
            </a:r>
            <a:r>
              <a:rPr lang="en-US" dirty="0">
                <a:latin typeface="Times New Roman" panose="02020603050405020304" pitchFamily="18" charset="0"/>
                <a:cs typeface="Times New Roman" panose="02020603050405020304" pitchFamily="18" charset="0"/>
              </a:rPr>
              <a:t> entries across </a:t>
            </a:r>
            <a:r>
              <a:rPr lang="en-US" b="1" dirty="0">
                <a:latin typeface="Times New Roman" panose="02020603050405020304" pitchFamily="18" charset="0"/>
                <a:cs typeface="Times New Roman" panose="02020603050405020304" pitchFamily="18" charset="0"/>
              </a:rPr>
              <a:t>35 columns</a:t>
            </a:r>
            <a:r>
              <a:rPr lang="en-US" dirty="0">
                <a:latin typeface="Times New Roman" panose="02020603050405020304" pitchFamily="18" charset="0"/>
                <a:cs typeface="Times New Roman" panose="02020603050405020304" pitchFamily="18" charset="0"/>
              </a:rPr>
              <a:t>, covering various attributes such as:</a:t>
            </a:r>
          </a:p>
          <a:p>
            <a:pPr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Water body details</a:t>
            </a:r>
            <a:r>
              <a:rPr lang="en-US" dirty="0">
                <a:latin typeface="Times New Roman" panose="02020603050405020304" pitchFamily="18" charset="0"/>
                <a:cs typeface="Times New Roman" panose="02020603050405020304" pitchFamily="18" charset="0"/>
              </a:rPr>
              <a:t>: Names, basin and sub-basin information</a:t>
            </a:r>
          </a:p>
          <a:p>
            <a:pPr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Geographical data</a:t>
            </a:r>
            <a:r>
              <a:rPr lang="en-US" dirty="0">
                <a:latin typeface="Times New Roman" panose="02020603050405020304" pitchFamily="18" charset="0"/>
                <a:cs typeface="Times New Roman" panose="02020603050405020304" pitchFamily="18" charset="0"/>
              </a:rPr>
              <a:t>: Location, state name, district, taluk</a:t>
            </a:r>
          </a:p>
          <a:p>
            <a:pPr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Usage and beneficiaries</a:t>
            </a:r>
            <a:r>
              <a:rPr lang="en-US" dirty="0">
                <a:latin typeface="Times New Roman" panose="02020603050405020304" pitchFamily="18" charset="0"/>
                <a:cs typeface="Times New Roman" panose="02020603050405020304" pitchFamily="18" charset="0"/>
              </a:rPr>
              <a:t>: Number of towns, villages, and people benefiting from the water body</a:t>
            </a:r>
          </a:p>
          <a:p>
            <a:pPr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Storage and capacity metrics</a:t>
            </a:r>
            <a:r>
              <a:rPr lang="en-US" dirty="0">
                <a:latin typeface="Times New Roman" panose="02020603050405020304" pitchFamily="18" charset="0"/>
                <a:cs typeface="Times New Roman" panose="02020603050405020304" pitchFamily="18" charset="0"/>
              </a:rPr>
              <a:t>: Original and current storage capacities</a:t>
            </a:r>
          </a:p>
          <a:p>
            <a:pPr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Renovation details</a:t>
            </a:r>
            <a:r>
              <a:rPr lang="en-US" dirty="0">
                <a:latin typeface="Times New Roman" panose="02020603050405020304" pitchFamily="18" charset="0"/>
                <a:cs typeface="Times New Roman" panose="02020603050405020304" pitchFamily="18" charset="0"/>
              </a:rPr>
              <a:t>: Year of renovation and associated projects</a:t>
            </a:r>
          </a:p>
          <a:p>
            <a:pPr algn="just">
              <a:lnSpc>
                <a:spcPct val="20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Administrative aspects</a:t>
            </a:r>
            <a:r>
              <a:rPr lang="en-US" dirty="0">
                <a:latin typeface="Times New Roman" panose="02020603050405020304" pitchFamily="18" charset="0"/>
                <a:cs typeface="Times New Roman" panose="02020603050405020304" pitchFamily="18" charset="0"/>
              </a:rPr>
              <a:t>: Department managing the water body, reference selection ID</a:t>
            </a:r>
          </a:p>
          <a:p>
            <a:pPr algn="just">
              <a:lnSpc>
                <a:spcPct val="200000"/>
              </a:lnSpc>
            </a:pPr>
            <a:r>
              <a:rPr lang="en-US" dirty="0">
                <a:latin typeface="Times New Roman" panose="02020603050405020304" pitchFamily="18" charset="0"/>
                <a:cs typeface="Times New Roman" panose="02020603050405020304" pitchFamily="18" charset="0"/>
              </a:rPr>
              <a:t>This dataset is crucial for analyzing water resource management, identifying trends in renovation projects, and assessing the impact of water bodies on local populations.</a:t>
            </a:r>
          </a:p>
        </p:txBody>
      </p:sp>
    </p:spTree>
    <p:extLst>
      <p:ext uri="{BB962C8B-B14F-4D97-AF65-F5344CB8AC3E}">
        <p14:creationId xmlns:p14="http://schemas.microsoft.com/office/powerpoint/2010/main" val="581829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4F89A0-06A9-4C1A-9525-7717F7C49C79}"/>
              </a:ext>
            </a:extLst>
          </p:cNvPr>
          <p:cNvSpPr txBox="1"/>
          <p:nvPr/>
        </p:nvSpPr>
        <p:spPr>
          <a:xfrm>
            <a:off x="301841" y="376688"/>
            <a:ext cx="11319029" cy="5859553"/>
          </a:xfrm>
          <a:prstGeom prst="rect">
            <a:avLst/>
          </a:prstGeom>
          <a:noFill/>
        </p:spPr>
        <p:txBody>
          <a:bodyPr wrap="square">
            <a:spAutoFit/>
          </a:bodyPr>
          <a:lstStyle/>
          <a:p>
            <a:pPr algn="just">
              <a:lnSpc>
                <a:spcPct val="150000"/>
              </a:lnSpc>
            </a:pPr>
            <a:r>
              <a:rPr lang="en-US" b="1" dirty="0">
                <a:solidFill>
                  <a:schemeClr val="accent2">
                    <a:lumMod val="50000"/>
                  </a:schemeClr>
                </a:solidFill>
                <a:latin typeface="Times New Roman" panose="02020603050405020304" pitchFamily="18" charset="0"/>
                <a:cs typeface="Times New Roman" panose="02020603050405020304" pitchFamily="18" charset="0"/>
              </a:rPr>
              <a:t>2. Steps in the Process of Research:</a:t>
            </a:r>
          </a:p>
          <a:p>
            <a:pPr algn="just">
              <a:lnSpc>
                <a:spcPct val="150000"/>
              </a:lnSpc>
            </a:pPr>
            <a:r>
              <a:rPr lang="en-US" dirty="0">
                <a:latin typeface="Times New Roman" panose="02020603050405020304" pitchFamily="18" charset="0"/>
                <a:cs typeface="Times New Roman" panose="02020603050405020304" pitchFamily="18" charset="0"/>
              </a:rPr>
              <a:t>Research follows a structured approach that includes: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Identifying the research problem</a:t>
            </a:r>
            <a:r>
              <a:rPr lang="en-US" dirty="0">
                <a:latin typeface="Times New Roman" panose="02020603050405020304" pitchFamily="18" charset="0"/>
                <a:cs typeface="Times New Roman" panose="02020603050405020304" pitchFamily="18" charset="0"/>
              </a:rPr>
              <a:t>: Understanding the key issues related to water resource management in Tamil Nadu, such as water availability, storage capacity, and renovation impact.</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Conducting a literature review</a:t>
            </a:r>
            <a:r>
              <a:rPr lang="en-US" dirty="0">
                <a:latin typeface="Times New Roman" panose="02020603050405020304" pitchFamily="18" charset="0"/>
                <a:cs typeface="Times New Roman" panose="02020603050405020304" pitchFamily="18" charset="0"/>
              </a:rPr>
              <a:t>: Reviewing past studies on water body management, government reports, and previous research on water conservation strategies.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Defining objectives and hypotheses</a:t>
            </a:r>
            <a:r>
              <a:rPr lang="en-US" dirty="0">
                <a:latin typeface="Times New Roman" panose="02020603050405020304" pitchFamily="18" charset="0"/>
                <a:cs typeface="Times New Roman" panose="02020603050405020304" pitchFamily="18" charset="0"/>
              </a:rPr>
              <a:t>: Establishing research goals such as identifying trends in renovation, assessing population impact, and analyzing storage capacity variations over time.</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Selecting research methods and tools</a:t>
            </a:r>
            <a:r>
              <a:rPr lang="en-US" dirty="0">
                <a:latin typeface="Times New Roman" panose="02020603050405020304" pitchFamily="18" charset="0"/>
                <a:cs typeface="Times New Roman" panose="02020603050405020304" pitchFamily="18" charset="0"/>
              </a:rPr>
              <a:t>: Choosing statistical methods, visualization techniques, and machine learning models to analyze the dataset.</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Collecting data</a:t>
            </a:r>
            <a:r>
              <a:rPr lang="en-US" dirty="0">
                <a:latin typeface="Times New Roman" panose="02020603050405020304" pitchFamily="18" charset="0"/>
                <a:cs typeface="Times New Roman" panose="02020603050405020304" pitchFamily="18" charset="0"/>
              </a:rPr>
              <a:t>: Using the </a:t>
            </a:r>
            <a:r>
              <a:rPr lang="en-US" b="1" dirty="0">
                <a:latin typeface="Times New Roman" panose="02020603050405020304" pitchFamily="18" charset="0"/>
                <a:cs typeface="Times New Roman" panose="02020603050405020304" pitchFamily="18" charset="0"/>
              </a:rPr>
              <a:t>WBC_TN.csv</a:t>
            </a:r>
            <a:r>
              <a:rPr lang="en-US" dirty="0">
                <a:latin typeface="Times New Roman" panose="02020603050405020304" pitchFamily="18" charset="0"/>
                <a:cs typeface="Times New Roman" panose="02020603050405020304" pitchFamily="18" charset="0"/>
              </a:rPr>
              <a:t> dataset as the primary data source, supplemented with external water resource reports if necessary.</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Analyzing and interpreting data</a:t>
            </a:r>
            <a:r>
              <a:rPr lang="en-US" dirty="0">
                <a:latin typeface="Times New Roman" panose="02020603050405020304" pitchFamily="18" charset="0"/>
                <a:cs typeface="Times New Roman" panose="02020603050405020304" pitchFamily="18" charset="0"/>
              </a:rPr>
              <a:t>: Cleaning the dataset, handling missing values, performing exploratory data analysis (EDA), and applying statistical techniques to identify insights.</a:t>
            </a:r>
          </a:p>
        </p:txBody>
      </p:sp>
    </p:spTree>
    <p:extLst>
      <p:ext uri="{BB962C8B-B14F-4D97-AF65-F5344CB8AC3E}">
        <p14:creationId xmlns:p14="http://schemas.microsoft.com/office/powerpoint/2010/main" val="31901348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947927B-7752-4A04-B64B-7CA124F17576}"/>
              </a:ext>
            </a:extLst>
          </p:cNvPr>
          <p:cNvSpPr txBox="1"/>
          <p:nvPr/>
        </p:nvSpPr>
        <p:spPr>
          <a:xfrm>
            <a:off x="426127" y="371745"/>
            <a:ext cx="10440140" cy="5859553"/>
          </a:xfrm>
          <a:prstGeom prst="rect">
            <a:avLst/>
          </a:prstGeom>
          <a:noFill/>
        </p:spPr>
        <p:txBody>
          <a:bodyPr wrap="square">
            <a:spAutoFit/>
          </a:bodyPr>
          <a:lstStyle/>
          <a:p>
            <a:pPr algn="just">
              <a:lnSpc>
                <a:spcPct val="150000"/>
              </a:lnSpc>
            </a:pPr>
            <a:r>
              <a:rPr lang="en-US" b="1" dirty="0">
                <a:solidFill>
                  <a:schemeClr val="accent2">
                    <a:lumMod val="50000"/>
                  </a:schemeClr>
                </a:solidFill>
                <a:latin typeface="Times New Roman" panose="02020603050405020304" pitchFamily="18" charset="0"/>
                <a:cs typeface="Times New Roman" panose="02020603050405020304" pitchFamily="18" charset="0"/>
              </a:rPr>
              <a:t>3. Analyzing and Interpreting Data:</a:t>
            </a:r>
          </a:p>
          <a:p>
            <a:pPr algn="just">
              <a:lnSpc>
                <a:spcPct val="150000"/>
              </a:lnSpc>
            </a:pPr>
            <a:r>
              <a:rPr lang="en-US" dirty="0">
                <a:latin typeface="Times New Roman" panose="02020603050405020304" pitchFamily="18" charset="0"/>
                <a:cs typeface="Times New Roman" panose="02020603050405020304" pitchFamily="18" charset="0"/>
              </a:rPr>
              <a:t>Analyzing data involves processing and summarizing collected information to find patterns and relationships. Interpretation follows analysis and seeks to explain trends, correlations, and anomalies within the dataset. This step often involves statistical techniques to validate findings.</a:t>
            </a:r>
          </a:p>
          <a:p>
            <a:pPr algn="just">
              <a:lnSpc>
                <a:spcPct val="150000"/>
              </a:lnSpc>
            </a:pPr>
            <a:r>
              <a:rPr lang="en-US" b="1" dirty="0">
                <a:latin typeface="Times New Roman" panose="02020603050405020304" pitchFamily="18" charset="0"/>
                <a:cs typeface="Times New Roman" panose="02020603050405020304" pitchFamily="18" charset="0"/>
              </a:rPr>
              <a:t>Analysis of the WBC_TN.csv Dataset:</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Exploratory Data Analysis (EDA)</a:t>
            </a:r>
            <a:r>
              <a:rPr lang="en-US" dirty="0">
                <a:latin typeface="Times New Roman" panose="02020603050405020304" pitchFamily="18" charset="0"/>
                <a:cs typeface="Times New Roman" panose="02020603050405020304" pitchFamily="18" charset="0"/>
              </a:rPr>
              <a:t>: Conducted descriptive statistics and visualized data using histograms, box plots, and scatter plots.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Missing Value Treatment</a:t>
            </a:r>
            <a:r>
              <a:rPr lang="en-US" dirty="0">
                <a:latin typeface="Times New Roman" panose="02020603050405020304" pitchFamily="18" charset="0"/>
                <a:cs typeface="Times New Roman" panose="02020603050405020304" pitchFamily="18" charset="0"/>
              </a:rPr>
              <a:t>: Identified and handled missing values in key columns like </a:t>
            </a:r>
            <a:r>
              <a:rPr lang="en-US" b="1" dirty="0" err="1">
                <a:latin typeface="Times New Roman" panose="02020603050405020304" pitchFamily="18" charset="0"/>
                <a:cs typeface="Times New Roman" panose="02020603050405020304" pitchFamily="18" charset="0"/>
              </a:rPr>
              <a:t>basin_name</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sub_basin_name</a:t>
            </a:r>
            <a:r>
              <a:rPr lang="en-US" b="1" dirty="0">
                <a:latin typeface="Times New Roman" panose="02020603050405020304" pitchFamily="18" charset="0"/>
                <a:cs typeface="Times New Roman" panose="02020603050405020304" pitchFamily="18" charset="0"/>
              </a:rPr>
              <a:t>, renovation_year</a:t>
            </a:r>
            <a:r>
              <a:rPr lang="en-US" dirty="0">
                <a:latin typeface="Times New Roman" panose="02020603050405020304" pitchFamily="18" charset="0"/>
                <a:cs typeface="Times New Roman" panose="02020603050405020304" pitchFamily="18" charset="0"/>
              </a:rPr>
              <a:t>, and </a:t>
            </a:r>
            <a:r>
              <a:rPr lang="en-US" b="1" dirty="0" err="1">
                <a:latin typeface="Times New Roman" panose="02020603050405020304" pitchFamily="18" charset="0"/>
                <a:cs typeface="Times New Roman" panose="02020603050405020304" pitchFamily="18" charset="0"/>
              </a:rPr>
              <a:t>no_people_benefited_by_water_body</a:t>
            </a:r>
            <a:r>
              <a:rPr lang="en-US" dirty="0">
                <a:latin typeface="Times New Roman" panose="02020603050405020304" pitchFamily="18" charset="0"/>
                <a:cs typeface="Times New Roman" panose="02020603050405020304" pitchFamily="18" charset="0"/>
              </a:rPr>
              <a:t>.</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Cleaning and Standardization</a:t>
            </a:r>
            <a:r>
              <a:rPr lang="en-US" dirty="0">
                <a:latin typeface="Times New Roman" panose="02020603050405020304" pitchFamily="18" charset="0"/>
                <a:cs typeface="Times New Roman" panose="02020603050405020304" pitchFamily="18" charset="0"/>
              </a:rPr>
              <a:t>: Formatted state names, corrected categorical inconsistencies, and converted numerical fields to appropriate data types.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Duplicate Check</a:t>
            </a:r>
            <a:r>
              <a:rPr lang="en-US" dirty="0">
                <a:latin typeface="Times New Roman" panose="02020603050405020304" pitchFamily="18" charset="0"/>
                <a:cs typeface="Times New Roman" panose="02020603050405020304" pitchFamily="18" charset="0"/>
              </a:rPr>
              <a:t>: Verified and removed any redundant records using the </a:t>
            </a:r>
            <a:r>
              <a:rPr lang="en-US" b="1" dirty="0" err="1">
                <a:latin typeface="Times New Roman" panose="02020603050405020304" pitchFamily="18" charset="0"/>
                <a:cs typeface="Times New Roman" panose="02020603050405020304" pitchFamily="18" charset="0"/>
              </a:rPr>
              <a:t>unique_id</a:t>
            </a:r>
            <a:r>
              <a:rPr lang="en-US" dirty="0">
                <a:latin typeface="Times New Roman" panose="02020603050405020304" pitchFamily="18" charset="0"/>
                <a:cs typeface="Times New Roman" panose="02020603050405020304" pitchFamily="18" charset="0"/>
              </a:rPr>
              <a:t> field.</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Outlier Detection</a:t>
            </a:r>
            <a:r>
              <a:rPr lang="en-US" dirty="0">
                <a:latin typeface="Times New Roman" panose="02020603050405020304" pitchFamily="18" charset="0"/>
                <a:cs typeface="Times New Roman" panose="02020603050405020304" pitchFamily="18" charset="0"/>
              </a:rPr>
              <a:t>: Used box plots and statistical methods to identify anomalies in storage capacities and population benefited.</a:t>
            </a:r>
          </a:p>
        </p:txBody>
      </p:sp>
    </p:spTree>
    <p:extLst>
      <p:ext uri="{BB962C8B-B14F-4D97-AF65-F5344CB8AC3E}">
        <p14:creationId xmlns:p14="http://schemas.microsoft.com/office/powerpoint/2010/main" val="420858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8C26BAE-7D2D-4F6B-A5AC-11EFF77E91E4}"/>
              </a:ext>
            </a:extLst>
          </p:cNvPr>
          <p:cNvSpPr txBox="1"/>
          <p:nvPr/>
        </p:nvSpPr>
        <p:spPr>
          <a:xfrm>
            <a:off x="422430" y="167450"/>
            <a:ext cx="11769570" cy="6690550"/>
          </a:xfrm>
          <a:prstGeom prst="rect">
            <a:avLst/>
          </a:prstGeom>
          <a:noFill/>
        </p:spPr>
        <p:txBody>
          <a:bodyPr wrap="square">
            <a:spAutoFit/>
          </a:bodyPr>
          <a:lstStyle/>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Visualization</a:t>
            </a:r>
            <a:r>
              <a:rPr lang="en-US" dirty="0">
                <a:latin typeface="Times New Roman" panose="02020603050405020304" pitchFamily="18" charset="0"/>
                <a:cs typeface="Times New Roman" panose="02020603050405020304" pitchFamily="18" charset="0"/>
              </a:rPr>
              <a:t>: Created </a:t>
            </a:r>
            <a:r>
              <a:rPr lang="en-US" b="1" dirty="0">
                <a:latin typeface="Times New Roman" panose="02020603050405020304" pitchFamily="18" charset="0"/>
                <a:cs typeface="Times New Roman" panose="02020603050405020304" pitchFamily="18" charset="0"/>
              </a:rPr>
              <a:t>20 different plots</a:t>
            </a:r>
            <a:r>
              <a:rPr lang="en-US" dirty="0">
                <a:latin typeface="Times New Roman" panose="02020603050405020304" pitchFamily="18" charset="0"/>
                <a:cs typeface="Times New Roman" panose="02020603050405020304" pitchFamily="18" charset="0"/>
              </a:rPr>
              <a:t>, including:</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Distribution of water bodies across districts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Trends in renovation over time</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Correlation between storage capacity and the number of beneficiaries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Heatmaps for missing data representation</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Pie charts for categorical distributions</a:t>
            </a:r>
          </a:p>
          <a:p>
            <a:pPr marL="742950" lvl="1" indent="-285750"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Bar graphs for frequency analysis of water body types</a:t>
            </a:r>
            <a:endParaRPr lang="en-US" b="1" dirty="0">
              <a:latin typeface="Times New Roman" panose="02020603050405020304" pitchFamily="18" charset="0"/>
              <a:cs typeface="Times New Roman" panose="02020603050405020304" pitchFamily="18" charset="0"/>
            </a:endParaRPr>
          </a:p>
          <a:p>
            <a:pPr algn="just">
              <a:lnSpc>
                <a:spcPct val="150000"/>
              </a:lnSpc>
            </a:pPr>
            <a:r>
              <a:rPr lang="en-US" b="1" dirty="0">
                <a:solidFill>
                  <a:schemeClr val="accent2">
                    <a:lumMod val="50000"/>
                  </a:schemeClr>
                </a:solidFill>
                <a:latin typeface="Times New Roman" panose="02020603050405020304" pitchFamily="18" charset="0"/>
                <a:cs typeface="Times New Roman" panose="02020603050405020304" pitchFamily="18" charset="0"/>
              </a:rPr>
              <a:t>4. Steps Involved in Data Analysis:</a:t>
            </a:r>
          </a:p>
          <a:p>
            <a:pPr algn="just">
              <a:lnSpc>
                <a:spcPct val="150000"/>
              </a:lnSpc>
            </a:pPr>
            <a:r>
              <a:rPr lang="en-US" dirty="0">
                <a:latin typeface="Times New Roman" panose="02020603050405020304" pitchFamily="18" charset="0"/>
                <a:cs typeface="Times New Roman" panose="02020603050405020304" pitchFamily="18" charset="0"/>
              </a:rPr>
              <a:t>The key steps in data analysis include:</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Collection</a:t>
            </a:r>
            <a:r>
              <a:rPr lang="en-US" dirty="0">
                <a:latin typeface="Times New Roman" panose="02020603050405020304" pitchFamily="18" charset="0"/>
                <a:cs typeface="Times New Roman" panose="02020603050405020304" pitchFamily="18" charset="0"/>
              </a:rPr>
              <a:t>: Gathering raw data from reliable sources.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Cleaning</a:t>
            </a:r>
            <a:r>
              <a:rPr lang="en-US" dirty="0">
                <a:latin typeface="Times New Roman" panose="02020603050405020304" pitchFamily="18" charset="0"/>
                <a:cs typeface="Times New Roman" panose="02020603050405020304" pitchFamily="18" charset="0"/>
              </a:rPr>
              <a:t>: Removing inconsistencies, handling missing values, and standardizing data formats.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Exploratory Data Analysis (EDA)</a:t>
            </a:r>
            <a:r>
              <a:rPr lang="en-US" dirty="0">
                <a:latin typeface="Times New Roman" panose="02020603050405020304" pitchFamily="18" charset="0"/>
                <a:cs typeface="Times New Roman" panose="02020603050405020304" pitchFamily="18" charset="0"/>
              </a:rPr>
              <a:t>: Summarizing main characteristics, visualizing trends, and detecting anomalies.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Statistical Analysis</a:t>
            </a:r>
            <a:r>
              <a:rPr lang="en-US" dirty="0">
                <a:latin typeface="Times New Roman" panose="02020603050405020304" pitchFamily="18" charset="0"/>
                <a:cs typeface="Times New Roman" panose="02020603050405020304" pitchFamily="18" charset="0"/>
              </a:rPr>
              <a:t>: Applying statistical methods to test hypotheses.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Interpretation</a:t>
            </a:r>
            <a:r>
              <a:rPr lang="en-US" dirty="0">
                <a:latin typeface="Times New Roman" panose="02020603050405020304" pitchFamily="18" charset="0"/>
                <a:cs typeface="Times New Roman" panose="02020603050405020304" pitchFamily="18" charset="0"/>
              </a:rPr>
              <a:t>: Drawing meaningful conclusions based on the analyzed data.</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Reporting and Visualization</a:t>
            </a:r>
            <a:r>
              <a:rPr lang="en-US" dirty="0">
                <a:latin typeface="Times New Roman" panose="02020603050405020304" pitchFamily="18" charset="0"/>
                <a:cs typeface="Times New Roman" panose="02020603050405020304" pitchFamily="18" charset="0"/>
              </a:rPr>
              <a:t>: Presenting findings through graphs, tables, and reports.</a:t>
            </a: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35886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193E126-1480-4E8A-9EC2-B4922E386DBC}"/>
              </a:ext>
            </a:extLst>
          </p:cNvPr>
          <p:cNvSpPr txBox="1"/>
          <p:nvPr/>
        </p:nvSpPr>
        <p:spPr>
          <a:xfrm>
            <a:off x="523782" y="235115"/>
            <a:ext cx="10067278" cy="5859553"/>
          </a:xfrm>
          <a:prstGeom prst="rect">
            <a:avLst/>
          </a:prstGeom>
          <a:noFill/>
        </p:spPr>
        <p:txBody>
          <a:bodyPr wrap="square">
            <a:spAutoFit/>
          </a:bodyPr>
          <a:lstStyle/>
          <a:p>
            <a:pPr algn="just">
              <a:lnSpc>
                <a:spcPct val="150000"/>
              </a:lnSpc>
            </a:pPr>
            <a:r>
              <a:rPr lang="en-US" b="1" dirty="0">
                <a:solidFill>
                  <a:schemeClr val="accent2">
                    <a:lumMod val="50000"/>
                  </a:schemeClr>
                </a:solidFill>
                <a:latin typeface="Times New Roman" panose="02020603050405020304" pitchFamily="18" charset="0"/>
                <a:cs typeface="Times New Roman" panose="02020603050405020304" pitchFamily="18" charset="0"/>
              </a:rPr>
              <a:t>5. Problems in the WBC_TN Dataset:</a:t>
            </a:r>
          </a:p>
          <a:p>
            <a:pPr algn="just">
              <a:lnSpc>
                <a:spcPct val="150000"/>
              </a:lnSpc>
            </a:pPr>
            <a:r>
              <a:rPr lang="en-US" dirty="0">
                <a:latin typeface="Times New Roman" panose="02020603050405020304" pitchFamily="18" charset="0"/>
                <a:cs typeface="Times New Roman" panose="02020603050405020304" pitchFamily="18" charset="0"/>
              </a:rPr>
              <a:t>The dataset </a:t>
            </a:r>
            <a:r>
              <a:rPr lang="en-US" b="1" dirty="0">
                <a:latin typeface="Times New Roman" panose="02020603050405020304" pitchFamily="18" charset="0"/>
                <a:cs typeface="Times New Roman" panose="02020603050405020304" pitchFamily="18" charset="0"/>
              </a:rPr>
              <a:t>WBC_TN.csv</a:t>
            </a:r>
            <a:r>
              <a:rPr lang="en-US" dirty="0">
                <a:latin typeface="Times New Roman" panose="02020603050405020304" pitchFamily="18" charset="0"/>
                <a:cs typeface="Times New Roman" panose="02020603050405020304" pitchFamily="18" charset="0"/>
              </a:rPr>
              <a:t> contains several data quality issues that need to be addressed.</a:t>
            </a:r>
          </a:p>
          <a:p>
            <a:pPr algn="just">
              <a:lnSpc>
                <a:spcPct val="150000"/>
              </a:lnSpc>
            </a:pPr>
            <a:r>
              <a:rPr lang="en-US" b="1" dirty="0">
                <a:latin typeface="Times New Roman" panose="02020603050405020304" pitchFamily="18" charset="0"/>
                <a:cs typeface="Times New Roman" panose="02020603050405020304" pitchFamily="18" charset="0"/>
              </a:rPr>
              <a:t>Missing Values:</a:t>
            </a:r>
          </a:p>
          <a:p>
            <a:pPr algn="just">
              <a:lnSpc>
                <a:spcPct val="150000"/>
              </a:lnSpc>
            </a:pPr>
            <a:r>
              <a:rPr lang="en-US" dirty="0">
                <a:latin typeface="Times New Roman" panose="02020603050405020304" pitchFamily="18" charset="0"/>
                <a:cs typeface="Times New Roman" panose="02020603050405020304" pitchFamily="18" charset="0"/>
              </a:rPr>
              <a:t>Several columns have missing data, such as:</a:t>
            </a:r>
          </a:p>
          <a:p>
            <a:pPr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basin_name</a:t>
            </a:r>
            <a:r>
              <a:rPr lang="en-US" dirty="0">
                <a:latin typeface="Times New Roman" panose="02020603050405020304" pitchFamily="18" charset="0"/>
                <a:cs typeface="Times New Roman" panose="02020603050405020304" pitchFamily="18" charset="0"/>
              </a:rPr>
              <a:t> (~31% filled)</a:t>
            </a:r>
          </a:p>
          <a:p>
            <a:pPr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sub_basin_name</a:t>
            </a:r>
            <a:r>
              <a:rPr lang="en-US" dirty="0">
                <a:latin typeface="Times New Roman" panose="02020603050405020304" pitchFamily="18" charset="0"/>
                <a:cs typeface="Times New Roman" panose="02020603050405020304" pitchFamily="18" charset="0"/>
              </a:rPr>
              <a:t> (~30% filled)</a:t>
            </a:r>
          </a:p>
          <a:p>
            <a:pPr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water_body_name</a:t>
            </a:r>
            <a:r>
              <a:rPr lang="en-US" dirty="0">
                <a:latin typeface="Times New Roman" panose="02020603050405020304" pitchFamily="18" charset="0"/>
                <a:cs typeface="Times New Roman" panose="02020603050405020304" pitchFamily="18" charset="0"/>
              </a:rPr>
              <a:t> (~88% filled)</a:t>
            </a:r>
          </a:p>
          <a:p>
            <a:pPr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renovation_year</a:t>
            </a:r>
            <a:r>
              <a:rPr lang="en-US" dirty="0">
                <a:latin typeface="Times New Roman" panose="02020603050405020304" pitchFamily="18" charset="0"/>
                <a:cs typeface="Times New Roman" panose="02020603050405020304" pitchFamily="18" charset="0"/>
              </a:rPr>
              <a:t> (~49% filled)</a:t>
            </a:r>
          </a:p>
          <a:p>
            <a:pPr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no_town_cities_benefited</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no_villages_benefited</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no_people_benefited_by_water_body</a:t>
            </a:r>
            <a:r>
              <a:rPr lang="en-US" dirty="0">
                <a:latin typeface="Times New Roman" panose="02020603050405020304" pitchFamily="18" charset="0"/>
                <a:cs typeface="Times New Roman" panose="02020603050405020304" pitchFamily="18" charset="0"/>
              </a:rPr>
              <a:t> (~40-50% missing)</a:t>
            </a:r>
          </a:p>
          <a:p>
            <a:pPr algn="just">
              <a:lnSpc>
                <a:spcPct val="150000"/>
              </a:lnSpc>
            </a:pPr>
            <a:r>
              <a:rPr lang="en-US" b="1" dirty="0">
                <a:latin typeface="Times New Roman" panose="02020603050405020304" pitchFamily="18" charset="0"/>
                <a:cs typeface="Times New Roman" panose="02020603050405020304" pitchFamily="18" charset="0"/>
              </a:rPr>
              <a:t>Inconsistent Data Types: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numerical values (e.g., </a:t>
            </a:r>
            <a:r>
              <a:rPr lang="en-US" b="1" dirty="0" err="1">
                <a:latin typeface="Times New Roman" panose="02020603050405020304" pitchFamily="18" charset="0"/>
                <a:cs typeface="Times New Roman" panose="02020603050405020304" pitchFamily="18" charset="0"/>
              </a:rPr>
              <a:t>renovation_year</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storage_capacity_water_body_original</a:t>
            </a:r>
            <a:r>
              <a:rPr lang="en-US" dirty="0">
                <a:latin typeface="Times New Roman" panose="02020603050405020304" pitchFamily="18" charset="0"/>
                <a:cs typeface="Times New Roman" panose="02020603050405020304" pitchFamily="18" charset="0"/>
              </a:rPr>
              <a:t>) are stored as float64 instead of integers.</a:t>
            </a:r>
            <a:endParaRPr lang="en-US" b="1"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85902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B126E5-C8EB-4B75-9791-72B02B06FEA3}"/>
              </a:ext>
            </a:extLst>
          </p:cNvPr>
          <p:cNvSpPr txBox="1"/>
          <p:nvPr/>
        </p:nvSpPr>
        <p:spPr>
          <a:xfrm>
            <a:off x="603681" y="469436"/>
            <a:ext cx="10333607" cy="5028556"/>
          </a:xfrm>
          <a:prstGeom prst="rect">
            <a:avLst/>
          </a:prstGeom>
          <a:noFill/>
        </p:spPr>
        <p:txBody>
          <a:bodyPr wrap="square">
            <a:spAutoFit/>
          </a:bodyPr>
          <a:lstStyle/>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Some categorical fields (e.g., </a:t>
            </a:r>
            <a:r>
              <a:rPr lang="en-US" b="1" dirty="0" err="1">
                <a:latin typeface="Times New Roman" panose="02020603050405020304" pitchFamily="18" charset="0"/>
                <a:cs typeface="Times New Roman" panose="02020603050405020304" pitchFamily="18" charset="0"/>
              </a:rPr>
              <a:t>ref_selection_id_wua_exists_name</a:t>
            </a:r>
            <a:r>
              <a:rPr lang="en-US" dirty="0">
                <a:latin typeface="Times New Roman" panose="02020603050405020304" pitchFamily="18" charset="0"/>
                <a:cs typeface="Times New Roman" panose="02020603050405020304" pitchFamily="18" charset="0"/>
              </a:rPr>
              <a:t>) contain values like "Not Known" instead of standard categories.</a:t>
            </a:r>
          </a:p>
          <a:p>
            <a:pPr algn="just">
              <a:lnSpc>
                <a:spcPct val="150000"/>
              </a:lnSpc>
            </a:pPr>
            <a:r>
              <a:rPr lang="en-US" b="1" dirty="0">
                <a:latin typeface="Times New Roman" panose="02020603050405020304" pitchFamily="18" charset="0"/>
                <a:cs typeface="Times New Roman" panose="02020603050405020304" pitchFamily="18" charset="0"/>
              </a:rPr>
              <a:t>Potential Duplicates:</a:t>
            </a:r>
          </a:p>
          <a:p>
            <a:pPr algn="just">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dataset contains a </a:t>
            </a:r>
            <a:r>
              <a:rPr lang="en-US" b="1" dirty="0" err="1">
                <a:latin typeface="Times New Roman" panose="02020603050405020304" pitchFamily="18" charset="0"/>
                <a:cs typeface="Times New Roman" panose="02020603050405020304" pitchFamily="18" charset="0"/>
              </a:rPr>
              <a:t>unique_id</a:t>
            </a:r>
            <a:r>
              <a:rPr lang="en-US" dirty="0">
                <a:latin typeface="Times New Roman" panose="02020603050405020304" pitchFamily="18" charset="0"/>
                <a:cs typeface="Times New Roman" panose="02020603050405020304" pitchFamily="18" charset="0"/>
              </a:rPr>
              <a:t> column, but duplicate records need to be checked.</a:t>
            </a:r>
          </a:p>
          <a:p>
            <a:pPr algn="just">
              <a:lnSpc>
                <a:spcPct val="150000"/>
              </a:lnSpc>
            </a:pPr>
            <a:r>
              <a:rPr lang="en-US" b="1" dirty="0">
                <a:latin typeface="Times New Roman" panose="02020603050405020304" pitchFamily="18" charset="0"/>
                <a:cs typeface="Times New Roman" panose="02020603050405020304" pitchFamily="18" charset="0"/>
              </a:rPr>
              <a:t>Data Standardization Needed:</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State Name</a:t>
            </a:r>
            <a:r>
              <a:rPr lang="en-US" dirty="0">
                <a:latin typeface="Times New Roman" panose="02020603050405020304" pitchFamily="18" charset="0"/>
                <a:cs typeface="Times New Roman" panose="02020603050405020304" pitchFamily="18" charset="0"/>
              </a:rPr>
              <a:t> is in uppercase (e.g., "TAMIL NADU") and may need formatting.</a:t>
            </a:r>
          </a:p>
          <a:p>
            <a:pPr algn="just">
              <a:lnSpc>
                <a:spcPct val="150000"/>
              </a:lnSpc>
              <a:buFont typeface="Arial" panose="020B0604020202020204" pitchFamily="34" charset="0"/>
              <a:buChar char="•"/>
            </a:pPr>
            <a:r>
              <a:rPr lang="en-US" b="1" dirty="0" err="1">
                <a:latin typeface="Times New Roman" panose="02020603050405020304" pitchFamily="18" charset="0"/>
                <a:cs typeface="Times New Roman" panose="02020603050405020304" pitchFamily="18" charset="0"/>
              </a:rPr>
              <a:t>water_body_name</a:t>
            </a:r>
            <a:r>
              <a:rPr lang="en-US" dirty="0">
                <a:latin typeface="Times New Roman" panose="02020603050405020304" pitchFamily="18" charset="0"/>
                <a:cs typeface="Times New Roman" panose="02020603050405020304" pitchFamily="18" charset="0"/>
              </a:rPr>
              <a:t> and other categorical fields have inconsistent naming conventions.</a:t>
            </a:r>
          </a:p>
          <a:p>
            <a:pPr algn="just">
              <a:lnSpc>
                <a:spcPct val="150000"/>
              </a:lnSpc>
            </a:pPr>
            <a:r>
              <a:rPr lang="en-US" b="1" dirty="0">
                <a:latin typeface="Times New Roman" panose="02020603050405020304" pitchFamily="18" charset="0"/>
                <a:cs typeface="Times New Roman" panose="02020603050405020304" pitchFamily="18" charset="0"/>
              </a:rPr>
              <a:t>Next Steps:</a:t>
            </a:r>
          </a:p>
          <a:p>
            <a:pPr algn="just">
              <a:lnSpc>
                <a:spcPct val="150000"/>
              </a:lnSpc>
            </a:pPr>
            <a:r>
              <a:rPr lang="en-US" dirty="0">
                <a:latin typeface="Times New Roman" panose="02020603050405020304" pitchFamily="18" charset="0"/>
                <a:cs typeface="Times New Roman" panose="02020603050405020304" pitchFamily="18" charset="0"/>
              </a:rPr>
              <a:t>I will:</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Clean the dataset</a:t>
            </a:r>
            <a:r>
              <a:rPr lang="en-US" dirty="0">
                <a:latin typeface="Times New Roman" panose="02020603050405020304" pitchFamily="18" charset="0"/>
                <a:cs typeface="Times New Roman" panose="02020603050405020304" pitchFamily="18" charset="0"/>
              </a:rPr>
              <a:t> (handle missing values, check duplicates, and standardize columns).</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Generate 20 different plots</a:t>
            </a:r>
            <a:r>
              <a:rPr lang="en-US" dirty="0">
                <a:latin typeface="Times New Roman" panose="02020603050405020304" pitchFamily="18" charset="0"/>
                <a:cs typeface="Times New Roman" panose="02020603050405020304" pitchFamily="18" charset="0"/>
              </a:rPr>
              <a:t> to visualize the dataset.</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Identify anomalies in the data</a:t>
            </a:r>
            <a:r>
              <a:rPr lang="en-US" dirty="0">
                <a:latin typeface="Times New Roman" panose="02020603050405020304" pitchFamily="18" charset="0"/>
                <a:cs typeface="Times New Roman" panose="02020603050405020304" pitchFamily="18" charset="0"/>
              </a:rPr>
              <a:t> (such as outliers and inconsistencies).</a:t>
            </a:r>
          </a:p>
        </p:txBody>
      </p:sp>
    </p:spTree>
    <p:extLst>
      <p:ext uri="{BB962C8B-B14F-4D97-AF65-F5344CB8AC3E}">
        <p14:creationId xmlns:p14="http://schemas.microsoft.com/office/powerpoint/2010/main" val="1019616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992888-8762-4A06-8339-E73DBF420D55}"/>
              </a:ext>
            </a:extLst>
          </p:cNvPr>
          <p:cNvSpPr txBox="1"/>
          <p:nvPr/>
        </p:nvSpPr>
        <p:spPr>
          <a:xfrm>
            <a:off x="470516" y="263423"/>
            <a:ext cx="10617693" cy="2535566"/>
          </a:xfrm>
          <a:prstGeom prst="rect">
            <a:avLst/>
          </a:prstGeom>
          <a:noFill/>
        </p:spPr>
        <p:txBody>
          <a:bodyPr wrap="square">
            <a:spAutoFit/>
          </a:bodyPr>
          <a:lstStyle/>
          <a:p>
            <a:pPr algn="just">
              <a:lnSpc>
                <a:spcPct val="150000"/>
              </a:lnSpc>
            </a:pPr>
            <a:r>
              <a:rPr lang="en-US" b="1" dirty="0">
                <a:solidFill>
                  <a:schemeClr val="accent2">
                    <a:lumMod val="50000"/>
                  </a:schemeClr>
                </a:solidFill>
                <a:latin typeface="Times New Roman" panose="02020603050405020304" pitchFamily="18" charset="0"/>
                <a:cs typeface="Times New Roman" panose="02020603050405020304" pitchFamily="18" charset="0"/>
              </a:rPr>
              <a:t>6. Data Visualization:</a:t>
            </a:r>
          </a:p>
          <a:p>
            <a:pPr algn="just">
              <a:lnSpc>
                <a:spcPct val="150000"/>
              </a:lnSpc>
            </a:pPr>
            <a:r>
              <a:rPr lang="en-US" dirty="0">
                <a:latin typeface="Times New Roman" panose="02020603050405020304" pitchFamily="18" charset="0"/>
                <a:cs typeface="Times New Roman" panose="02020603050405020304" pitchFamily="18" charset="0"/>
              </a:rPr>
              <a:t>Data visualization is a crucial aspect of data analysis as it helps in understanding trends, patterns, and anomalies effectively. The following visualization techniques were applied to the </a:t>
            </a:r>
            <a:r>
              <a:rPr lang="en-US" b="1" dirty="0">
                <a:latin typeface="Times New Roman" panose="02020603050405020304" pitchFamily="18" charset="0"/>
                <a:cs typeface="Times New Roman" panose="02020603050405020304" pitchFamily="18" charset="0"/>
              </a:rPr>
              <a:t>WBC_TN.csv</a:t>
            </a:r>
            <a:r>
              <a:rPr lang="en-US" dirty="0">
                <a:latin typeface="Times New Roman" panose="02020603050405020304" pitchFamily="18" charset="0"/>
                <a:cs typeface="Times New Roman" panose="02020603050405020304" pitchFamily="18" charset="0"/>
              </a:rPr>
              <a:t> dataset:</a:t>
            </a:r>
          </a:p>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Histograms</a:t>
            </a:r>
            <a:r>
              <a:rPr lang="en-US" dirty="0">
                <a:latin typeface="Times New Roman" panose="02020603050405020304" pitchFamily="18" charset="0"/>
                <a:cs typeface="Times New Roman" panose="02020603050405020304" pitchFamily="18" charset="0"/>
              </a:rPr>
              <a:t>: Showed the distribution of numerical attributes such as storage capacity, helping us understand data spread and skewness.</a:t>
            </a:r>
          </a:p>
          <a:p>
            <a:pPr algn="just">
              <a:lnSpc>
                <a:spcPct val="150000"/>
              </a:lnSpc>
            </a:pPr>
            <a:endParaRPr lang="en-US"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412F0FF-60A3-4FBA-957C-FFD8AB99ED0C}"/>
              </a:ext>
            </a:extLst>
          </p:cNvPr>
          <p:cNvPicPr>
            <a:picLocks noChangeAspect="1"/>
          </p:cNvPicPr>
          <p:nvPr/>
        </p:nvPicPr>
        <p:blipFill>
          <a:blip r:embed="rId2"/>
          <a:stretch>
            <a:fillRect/>
          </a:stretch>
        </p:blipFill>
        <p:spPr>
          <a:xfrm>
            <a:off x="577049" y="2663345"/>
            <a:ext cx="10271463" cy="3808475"/>
          </a:xfrm>
          <a:prstGeom prst="rect">
            <a:avLst/>
          </a:prstGeom>
        </p:spPr>
      </p:pic>
    </p:spTree>
    <p:extLst>
      <p:ext uri="{BB962C8B-B14F-4D97-AF65-F5344CB8AC3E}">
        <p14:creationId xmlns:p14="http://schemas.microsoft.com/office/powerpoint/2010/main" val="2238718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B3468-BF75-48A3-A83E-140FF6C739D5}"/>
              </a:ext>
            </a:extLst>
          </p:cNvPr>
          <p:cNvSpPr txBox="1"/>
          <p:nvPr/>
        </p:nvSpPr>
        <p:spPr>
          <a:xfrm>
            <a:off x="435005" y="291474"/>
            <a:ext cx="11105965" cy="2120068"/>
          </a:xfrm>
          <a:prstGeom prst="rect">
            <a:avLst/>
          </a:prstGeom>
          <a:noFill/>
        </p:spPr>
        <p:txBody>
          <a:bodyPr wrap="square">
            <a:spAutoFit/>
          </a:bodyPr>
          <a:lstStyle/>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Box Plots</a:t>
            </a:r>
            <a:r>
              <a:rPr lang="en-US" dirty="0">
                <a:latin typeface="Times New Roman" panose="02020603050405020304" pitchFamily="18" charset="0"/>
                <a:cs typeface="Times New Roman" panose="02020603050405020304" pitchFamily="18" charset="0"/>
              </a:rPr>
              <a:t>: Identified outliers in renovation years and storage capacities, allowing us to detect anomalies in the dataset.</a:t>
            </a: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dirty="0">
              <a:latin typeface="Times New Roman" panose="02020603050405020304" pitchFamily="18" charset="0"/>
              <a:cs typeface="Times New Roman" panose="02020603050405020304" pitchFamily="18" charset="0"/>
            </a:endParaRPr>
          </a:p>
          <a:p>
            <a:pPr algn="just">
              <a:lnSpc>
                <a:spcPct val="150000"/>
              </a:lnSpc>
            </a:pPr>
            <a:endParaRPr lang="en-US"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1B7D9BE-E39E-4229-8BF4-457B3D6CA689}"/>
              </a:ext>
            </a:extLst>
          </p:cNvPr>
          <p:cNvPicPr>
            <a:picLocks noChangeAspect="1"/>
          </p:cNvPicPr>
          <p:nvPr/>
        </p:nvPicPr>
        <p:blipFill>
          <a:blip r:embed="rId2"/>
          <a:stretch>
            <a:fillRect/>
          </a:stretch>
        </p:blipFill>
        <p:spPr>
          <a:xfrm>
            <a:off x="1313895" y="1345671"/>
            <a:ext cx="8396426" cy="5220855"/>
          </a:xfrm>
          <a:prstGeom prst="rect">
            <a:avLst/>
          </a:prstGeom>
        </p:spPr>
      </p:pic>
    </p:spTree>
    <p:extLst>
      <p:ext uri="{BB962C8B-B14F-4D97-AF65-F5344CB8AC3E}">
        <p14:creationId xmlns:p14="http://schemas.microsoft.com/office/powerpoint/2010/main" val="489576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C26D04-E08B-4222-A3D6-AEE9DC7692D9}"/>
              </a:ext>
            </a:extLst>
          </p:cNvPr>
          <p:cNvSpPr txBox="1"/>
          <p:nvPr/>
        </p:nvSpPr>
        <p:spPr>
          <a:xfrm>
            <a:off x="694561" y="352217"/>
            <a:ext cx="9401453" cy="873572"/>
          </a:xfrm>
          <a:prstGeom prst="rect">
            <a:avLst/>
          </a:prstGeom>
          <a:noFill/>
        </p:spPr>
        <p:txBody>
          <a:bodyPr wrap="square">
            <a:spAutoFit/>
          </a:bodyPr>
          <a:lstStyle/>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Scatter Plots</a:t>
            </a:r>
            <a:r>
              <a:rPr lang="en-US" dirty="0">
                <a:latin typeface="Times New Roman" panose="02020603050405020304" pitchFamily="18" charset="0"/>
                <a:cs typeface="Times New Roman" panose="02020603050405020304" pitchFamily="18" charset="0"/>
              </a:rPr>
              <a:t>: Explored relationships between water body capacity and the number of beneficiaries, providing insights into how storage impacts the population.</a:t>
            </a:r>
          </a:p>
        </p:txBody>
      </p:sp>
      <p:pic>
        <p:nvPicPr>
          <p:cNvPr id="5" name="Picture 4">
            <a:extLst>
              <a:ext uri="{FF2B5EF4-FFF2-40B4-BE49-F238E27FC236}">
                <a16:creationId xmlns:a16="http://schemas.microsoft.com/office/drawing/2014/main" id="{30B63ABF-1044-4861-8362-9D139A0BF4CC}"/>
              </a:ext>
            </a:extLst>
          </p:cNvPr>
          <p:cNvPicPr>
            <a:picLocks noChangeAspect="1"/>
          </p:cNvPicPr>
          <p:nvPr/>
        </p:nvPicPr>
        <p:blipFill rotWithShape="1">
          <a:blip r:embed="rId2"/>
          <a:srcRect t="2502"/>
          <a:stretch/>
        </p:blipFill>
        <p:spPr>
          <a:xfrm>
            <a:off x="992194" y="1713389"/>
            <a:ext cx="9103820" cy="4671597"/>
          </a:xfrm>
          <a:prstGeom prst="rect">
            <a:avLst/>
          </a:prstGeom>
        </p:spPr>
      </p:pic>
    </p:spTree>
    <p:extLst>
      <p:ext uri="{BB962C8B-B14F-4D97-AF65-F5344CB8AC3E}">
        <p14:creationId xmlns:p14="http://schemas.microsoft.com/office/powerpoint/2010/main" val="35717204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1F60DB-BD52-4A21-AC0A-947B1F28DBE3}"/>
              </a:ext>
            </a:extLst>
          </p:cNvPr>
          <p:cNvSpPr txBox="1"/>
          <p:nvPr/>
        </p:nvSpPr>
        <p:spPr>
          <a:xfrm>
            <a:off x="621435" y="364516"/>
            <a:ext cx="9978501" cy="873572"/>
          </a:xfrm>
          <a:prstGeom prst="rect">
            <a:avLst/>
          </a:prstGeom>
          <a:noFill/>
        </p:spPr>
        <p:txBody>
          <a:bodyPr wrap="square">
            <a:spAutoFit/>
          </a:bodyPr>
          <a:lstStyle/>
          <a:p>
            <a:pPr algn="just">
              <a:lnSpc>
                <a:spcPct val="150000"/>
              </a:lnSpc>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Bar Charts</a:t>
            </a:r>
            <a:r>
              <a:rPr lang="en-US" dirty="0">
                <a:latin typeface="Times New Roman" panose="02020603050405020304" pitchFamily="18" charset="0"/>
                <a:cs typeface="Times New Roman" panose="02020603050405020304" pitchFamily="18" charset="0"/>
              </a:rPr>
              <a:t>: Displayed frequency counts of categorical variables like basin name and district, helping in analyzing geographical distribution.</a:t>
            </a:r>
          </a:p>
        </p:txBody>
      </p:sp>
      <p:sp>
        <p:nvSpPr>
          <p:cNvPr id="5" name="AutoShape 4" descr="Output image">
            <a:extLst>
              <a:ext uri="{FF2B5EF4-FFF2-40B4-BE49-F238E27FC236}">
                <a16:creationId xmlns:a16="http://schemas.microsoft.com/office/drawing/2014/main" id="{28442871-B1BE-4A10-8D6F-612222E3F225}"/>
              </a:ext>
            </a:extLst>
          </p:cNvPr>
          <p:cNvSpPr>
            <a:spLocks noChangeAspect="1" noChangeArrowheads="1"/>
          </p:cNvSpPr>
          <p:nvPr/>
        </p:nvSpPr>
        <p:spPr bwMode="auto">
          <a:xfrm>
            <a:off x="6096000" y="34290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05C3788B-5F19-40C3-B000-233455707B76}"/>
              </a:ext>
            </a:extLst>
          </p:cNvPr>
          <p:cNvPicPr>
            <a:picLocks noChangeAspect="1"/>
          </p:cNvPicPr>
          <p:nvPr/>
        </p:nvPicPr>
        <p:blipFill rotWithShape="1">
          <a:blip r:embed="rId2"/>
          <a:srcRect t="2548"/>
          <a:stretch/>
        </p:blipFill>
        <p:spPr>
          <a:xfrm>
            <a:off x="1619803" y="1731146"/>
            <a:ext cx="8763000" cy="4325552"/>
          </a:xfrm>
          <a:prstGeom prst="rect">
            <a:avLst/>
          </a:prstGeom>
        </p:spPr>
      </p:pic>
    </p:spTree>
    <p:extLst>
      <p:ext uri="{BB962C8B-B14F-4D97-AF65-F5344CB8AC3E}">
        <p14:creationId xmlns:p14="http://schemas.microsoft.com/office/powerpoint/2010/main" val="3580170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370BB52-5F5C-4B3D-A8D0-7F00B037D6C8}"/>
              </a:ext>
            </a:extLst>
          </p:cNvPr>
          <p:cNvSpPr txBox="1"/>
          <p:nvPr/>
        </p:nvSpPr>
        <p:spPr>
          <a:xfrm>
            <a:off x="570389" y="343516"/>
            <a:ext cx="9878627" cy="646331"/>
          </a:xfrm>
          <a:prstGeom prst="rect">
            <a:avLst/>
          </a:prstGeom>
          <a:noFill/>
        </p:spPr>
        <p:txBody>
          <a:bodyPr wrap="square">
            <a:sp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Pie Charts</a:t>
            </a:r>
            <a:r>
              <a:rPr lang="en-US" dirty="0">
                <a:latin typeface="Times New Roman" panose="02020603050405020304" pitchFamily="18" charset="0"/>
                <a:cs typeface="Times New Roman" panose="02020603050405020304" pitchFamily="18" charset="0"/>
              </a:rPr>
              <a:t>: Represented proportions of different types of water bodies, illustrating the distribution of categories visually.</a:t>
            </a:r>
          </a:p>
        </p:txBody>
      </p:sp>
      <p:pic>
        <p:nvPicPr>
          <p:cNvPr id="7" name="Picture 6">
            <a:extLst>
              <a:ext uri="{FF2B5EF4-FFF2-40B4-BE49-F238E27FC236}">
                <a16:creationId xmlns:a16="http://schemas.microsoft.com/office/drawing/2014/main" id="{7801E46E-8405-46C6-9604-EBA813233361}"/>
              </a:ext>
            </a:extLst>
          </p:cNvPr>
          <p:cNvPicPr>
            <a:picLocks noChangeAspect="1"/>
          </p:cNvPicPr>
          <p:nvPr/>
        </p:nvPicPr>
        <p:blipFill>
          <a:blip r:embed="rId2"/>
          <a:stretch>
            <a:fillRect/>
          </a:stretch>
        </p:blipFill>
        <p:spPr>
          <a:xfrm>
            <a:off x="1588363" y="1186696"/>
            <a:ext cx="8319116" cy="5224207"/>
          </a:xfrm>
          <a:prstGeom prst="rect">
            <a:avLst/>
          </a:prstGeom>
        </p:spPr>
      </p:pic>
    </p:spTree>
    <p:extLst>
      <p:ext uri="{BB962C8B-B14F-4D97-AF65-F5344CB8AC3E}">
        <p14:creationId xmlns:p14="http://schemas.microsoft.com/office/powerpoint/2010/main" val="1002892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BC3EF0E-885A-418E-8548-84E51B2BA664}"/>
              </a:ext>
            </a:extLst>
          </p:cNvPr>
          <p:cNvSpPr txBox="1"/>
          <p:nvPr/>
        </p:nvSpPr>
        <p:spPr>
          <a:xfrm>
            <a:off x="526001" y="229898"/>
            <a:ext cx="10269246" cy="646331"/>
          </a:xfrm>
          <a:prstGeom prst="rect">
            <a:avLst/>
          </a:prstGeom>
          <a:noFill/>
        </p:spPr>
        <p:txBody>
          <a:bodyPr wrap="square">
            <a:sp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Heatmaps</a:t>
            </a:r>
            <a:r>
              <a:rPr lang="en-US" dirty="0">
                <a:latin typeface="Times New Roman" panose="02020603050405020304" pitchFamily="18" charset="0"/>
                <a:cs typeface="Times New Roman" panose="02020603050405020304" pitchFamily="18" charset="0"/>
              </a:rPr>
              <a:t>: Showed correlations between numerical features, revealing relationships and dependencies within the dataset.</a:t>
            </a:r>
          </a:p>
        </p:txBody>
      </p:sp>
      <p:pic>
        <p:nvPicPr>
          <p:cNvPr id="5" name="Picture 4">
            <a:extLst>
              <a:ext uri="{FF2B5EF4-FFF2-40B4-BE49-F238E27FC236}">
                <a16:creationId xmlns:a16="http://schemas.microsoft.com/office/drawing/2014/main" id="{B5E2CE4A-D98D-4164-9CAF-7EE83F45EB35}"/>
              </a:ext>
            </a:extLst>
          </p:cNvPr>
          <p:cNvPicPr>
            <a:picLocks noChangeAspect="1"/>
          </p:cNvPicPr>
          <p:nvPr/>
        </p:nvPicPr>
        <p:blipFill>
          <a:blip r:embed="rId2"/>
          <a:stretch>
            <a:fillRect/>
          </a:stretch>
        </p:blipFill>
        <p:spPr>
          <a:xfrm>
            <a:off x="626985" y="1212600"/>
            <a:ext cx="10067278" cy="5195006"/>
          </a:xfrm>
          <a:prstGeom prst="rect">
            <a:avLst/>
          </a:prstGeom>
        </p:spPr>
      </p:pic>
    </p:spTree>
    <p:extLst>
      <p:ext uri="{BB962C8B-B14F-4D97-AF65-F5344CB8AC3E}">
        <p14:creationId xmlns:p14="http://schemas.microsoft.com/office/powerpoint/2010/main" val="4173669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426345C-B4D6-4CE0-BC13-97F4D1B21080}"/>
              </a:ext>
            </a:extLst>
          </p:cNvPr>
          <p:cNvSpPr txBox="1"/>
          <p:nvPr/>
        </p:nvSpPr>
        <p:spPr>
          <a:xfrm>
            <a:off x="454981" y="151790"/>
            <a:ext cx="10872926" cy="369332"/>
          </a:xfrm>
          <a:prstGeom prst="rect">
            <a:avLst/>
          </a:prstGeom>
          <a:noFill/>
        </p:spPr>
        <p:txBody>
          <a:bodyPr wrap="square">
            <a:spAutoFit/>
          </a:bodyPr>
          <a:lstStyle/>
          <a:p>
            <a:pPr>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Line Graphs</a:t>
            </a:r>
            <a:r>
              <a:rPr lang="en-US" dirty="0">
                <a:latin typeface="Times New Roman" panose="02020603050405020304" pitchFamily="18" charset="0"/>
                <a:cs typeface="Times New Roman" panose="02020603050405020304" pitchFamily="18" charset="0"/>
              </a:rPr>
              <a:t>: Illustrated trends in renovation over time, enabling us to track changes in water body improvements.</a:t>
            </a:r>
          </a:p>
        </p:txBody>
      </p:sp>
      <p:pic>
        <p:nvPicPr>
          <p:cNvPr id="5" name="Picture 4">
            <a:extLst>
              <a:ext uri="{FF2B5EF4-FFF2-40B4-BE49-F238E27FC236}">
                <a16:creationId xmlns:a16="http://schemas.microsoft.com/office/drawing/2014/main" id="{272FD1EE-0AFE-44BD-BDBD-4E6E6CF8492E}"/>
              </a:ext>
            </a:extLst>
          </p:cNvPr>
          <p:cNvPicPr>
            <a:picLocks noChangeAspect="1"/>
          </p:cNvPicPr>
          <p:nvPr/>
        </p:nvPicPr>
        <p:blipFill>
          <a:blip r:embed="rId2"/>
          <a:stretch>
            <a:fillRect/>
          </a:stretch>
        </p:blipFill>
        <p:spPr>
          <a:xfrm>
            <a:off x="921721" y="618777"/>
            <a:ext cx="8763817" cy="5076202"/>
          </a:xfrm>
          <a:prstGeom prst="rect">
            <a:avLst/>
          </a:prstGeom>
        </p:spPr>
      </p:pic>
      <p:sp>
        <p:nvSpPr>
          <p:cNvPr id="7" name="TextBox 6">
            <a:extLst>
              <a:ext uri="{FF2B5EF4-FFF2-40B4-BE49-F238E27FC236}">
                <a16:creationId xmlns:a16="http://schemas.microsoft.com/office/drawing/2014/main" id="{05F22EA9-3F2B-4239-A76B-773834B8D2F9}"/>
              </a:ext>
            </a:extLst>
          </p:cNvPr>
          <p:cNvSpPr txBox="1"/>
          <p:nvPr/>
        </p:nvSpPr>
        <p:spPr>
          <a:xfrm>
            <a:off x="726413" y="5379803"/>
            <a:ext cx="10201999" cy="1200329"/>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7. Conclusion</a:t>
            </a:r>
          </a:p>
          <a:p>
            <a:r>
              <a:rPr lang="en-US" dirty="0">
                <a:latin typeface="Times New Roman" panose="02020603050405020304" pitchFamily="18" charset="0"/>
                <a:cs typeface="Times New Roman" panose="02020603050405020304" pitchFamily="18" charset="0"/>
              </a:rPr>
              <a:t>Data analysis is an essential part of research and decision-making, enabling organizations and researchers to derive actionable insights. By following a structured approach and utilizing appropriate statistical and analytical techniques, one can effectively interpret data and make informed decisions.</a:t>
            </a:r>
          </a:p>
        </p:txBody>
      </p:sp>
    </p:spTree>
    <p:extLst>
      <p:ext uri="{BB962C8B-B14F-4D97-AF65-F5344CB8AC3E}">
        <p14:creationId xmlns:p14="http://schemas.microsoft.com/office/powerpoint/2010/main" val="20155481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ank You Text Vectors &amp; Illustrations for Free Download ...">
            <a:extLst>
              <a:ext uri="{FF2B5EF4-FFF2-40B4-BE49-F238E27FC236}">
                <a16:creationId xmlns:a16="http://schemas.microsoft.com/office/drawing/2014/main" id="{22122EAE-CD7F-46FF-8A1C-A10D204C6A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0023" y="830941"/>
            <a:ext cx="7523733" cy="4219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13428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1200</Words>
  <Application>Microsoft Office PowerPoint</Application>
  <PresentationFormat>Widescreen</PresentationFormat>
  <Paragraphs>93</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State-wise Data of First Census of Water Bodies - Tamil Nadu</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6</cp:revision>
  <dcterms:created xsi:type="dcterms:W3CDTF">2025-03-19T15:07:53Z</dcterms:created>
  <dcterms:modified xsi:type="dcterms:W3CDTF">2025-03-19T15:56:04Z</dcterms:modified>
</cp:coreProperties>
</file>